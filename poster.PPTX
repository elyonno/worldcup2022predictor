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nl-NL"/>
    </a:defPPr>
    <a:lvl1pPr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1482222" indent="-1159073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2965565" indent="-2319267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4447786" indent="-3478340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5931130" indent="-4638534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1615745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1938894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2262043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2585192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DB0"/>
    <a:srgbClr val="E2007C"/>
    <a:srgbClr val="A9005D"/>
    <a:srgbClr val="D99423"/>
    <a:srgbClr val="FBAA29"/>
    <a:srgbClr val="B97F1C"/>
    <a:srgbClr val="DBE0E4"/>
    <a:srgbClr val="ED1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59" autoAdjust="0"/>
  </p:normalViewPr>
  <p:slideViewPr>
    <p:cSldViewPr snapToGrid="0" snapToObjects="1" showGuides="1">
      <p:cViewPr>
        <p:scale>
          <a:sx n="50" d="100"/>
          <a:sy n="50" d="100"/>
        </p:scale>
        <p:origin x="708" y="-4140"/>
      </p:cViewPr>
      <p:guideLst>
        <p:guide orient="horz" pos="9536"/>
        <p:guide pos="67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2400"/>
              <a:t>Number</a:t>
            </a:r>
            <a:r>
              <a:rPr lang="en-GB" sz="2400" baseline="0"/>
              <a:t> of Top 4 Finishes in 1000 Iterations</a:t>
            </a:r>
            <a:endParaRPr lang="en-GB" sz="2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Netherlands</c:v>
                </c:pt>
                <c:pt idx="1">
                  <c:v>England</c:v>
                </c:pt>
                <c:pt idx="2">
                  <c:v>Argentina</c:v>
                </c:pt>
                <c:pt idx="3">
                  <c:v>France</c:v>
                </c:pt>
                <c:pt idx="4">
                  <c:v>Spain</c:v>
                </c:pt>
                <c:pt idx="5">
                  <c:v>Belgium</c:v>
                </c:pt>
                <c:pt idx="6">
                  <c:v>Brazil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0</c:v>
                </c:pt>
                <c:pt idx="2">
                  <c:v>566</c:v>
                </c:pt>
                <c:pt idx="3">
                  <c:v>0</c:v>
                </c:pt>
                <c:pt idx="4">
                  <c:v>0</c:v>
                </c:pt>
                <c:pt idx="5">
                  <c:v>90</c:v>
                </c:pt>
                <c:pt idx="6">
                  <c:v>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DA-417E-8DE3-F7D748CA47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Runners up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Netherlands</c:v>
                </c:pt>
                <c:pt idx="1">
                  <c:v>England</c:v>
                </c:pt>
                <c:pt idx="2">
                  <c:v>Argentina</c:v>
                </c:pt>
                <c:pt idx="3">
                  <c:v>France</c:v>
                </c:pt>
                <c:pt idx="4">
                  <c:v>Spain</c:v>
                </c:pt>
                <c:pt idx="5">
                  <c:v>Belgium</c:v>
                </c:pt>
                <c:pt idx="6">
                  <c:v>Brazil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178</c:v>
                </c:pt>
                <c:pt idx="2">
                  <c:v>20</c:v>
                </c:pt>
                <c:pt idx="3">
                  <c:v>35</c:v>
                </c:pt>
                <c:pt idx="4">
                  <c:v>0</c:v>
                </c:pt>
                <c:pt idx="5">
                  <c:v>689</c:v>
                </c:pt>
                <c:pt idx="6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DA-417E-8DE3-F7D748CA47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Third place</c:v>
                </c:pt>
              </c:strCache>
            </c:strRef>
          </c:tx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Netherlands</c:v>
                </c:pt>
                <c:pt idx="1">
                  <c:v>England</c:v>
                </c:pt>
                <c:pt idx="2">
                  <c:v>Argentina</c:v>
                </c:pt>
                <c:pt idx="3">
                  <c:v>France</c:v>
                </c:pt>
                <c:pt idx="4">
                  <c:v>Spain</c:v>
                </c:pt>
                <c:pt idx="5">
                  <c:v>Belgium</c:v>
                </c:pt>
                <c:pt idx="6">
                  <c:v>Brazil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374</c:v>
                </c:pt>
                <c:pt idx="3">
                  <c:v>23</c:v>
                </c:pt>
                <c:pt idx="4">
                  <c:v>12</c:v>
                </c:pt>
                <c:pt idx="5">
                  <c:v>25</c:v>
                </c:pt>
                <c:pt idx="6">
                  <c:v>566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DA-417E-8DE3-F7D748CA47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Fourth place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Netherlands</c:v>
                </c:pt>
                <c:pt idx="1">
                  <c:v>England</c:v>
                </c:pt>
                <c:pt idx="2">
                  <c:v>Argentina</c:v>
                </c:pt>
                <c:pt idx="3">
                  <c:v>France</c:v>
                </c:pt>
                <c:pt idx="4">
                  <c:v>Spain</c:v>
                </c:pt>
                <c:pt idx="5">
                  <c:v>Belgium</c:v>
                </c:pt>
                <c:pt idx="6">
                  <c:v>Brazil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13</c:v>
                </c:pt>
                <c:pt idx="1">
                  <c:v>444</c:v>
                </c:pt>
                <c:pt idx="2">
                  <c:v>22</c:v>
                </c:pt>
                <c:pt idx="3">
                  <c:v>320</c:v>
                </c:pt>
                <c:pt idx="4">
                  <c:v>12</c:v>
                </c:pt>
                <c:pt idx="5">
                  <c:v>188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CDA-417E-8DE3-F7D748CA47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7775984"/>
        <c:axId val="787775328"/>
      </c:barChart>
      <c:catAx>
        <c:axId val="787775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7775328"/>
        <c:crosses val="autoZero"/>
        <c:auto val="1"/>
        <c:lblAlgn val="ctr"/>
        <c:lblOffset val="100"/>
        <c:noMultiLvlLbl val="0"/>
      </c:catAx>
      <c:valAx>
        <c:axId val="787775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7775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796092283615286"/>
          <c:y val="0.95736484557089729"/>
          <c:w val="0.61993308021575055"/>
          <c:h val="1.01489827142943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1830750" y="10186431"/>
            <a:ext cx="17706153" cy="18513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113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8"/>
          <p:cNvSpPr>
            <a:spLocks noChangeArrowheads="1"/>
          </p:cNvSpPr>
          <p:nvPr userDrawn="1"/>
        </p:nvSpPr>
        <p:spPr bwMode="auto">
          <a:xfrm>
            <a:off x="3" y="1"/>
            <a:ext cx="21383622" cy="42777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en-US" altLang="nl-NL" sz="1777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hthoek 10"/>
          <p:cNvSpPr/>
          <p:nvPr userDrawn="1"/>
        </p:nvSpPr>
        <p:spPr>
          <a:xfrm>
            <a:off x="0" y="1"/>
            <a:ext cx="21383625" cy="20624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8188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l-NL" sz="4143"/>
          </a:p>
        </p:txBody>
      </p:sp>
      <p:pic>
        <p:nvPicPr>
          <p:cNvPr id="8" name="Afbeelding 7" descr="KULEUVEN_CMYK_LOGO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89" y="1145300"/>
            <a:ext cx="6414751" cy="229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830750" y="5041653"/>
            <a:ext cx="17706153" cy="4583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830750" y="10186431"/>
            <a:ext cx="17706153" cy="18513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1481173" rtl="0" eaLnBrk="0" fontAlgn="base" hangingPunct="0">
        <a:spcBef>
          <a:spcPct val="0"/>
        </a:spcBef>
        <a:spcAft>
          <a:spcPct val="0"/>
        </a:spcAft>
        <a:defRPr sz="13420" kern="1200">
          <a:solidFill>
            <a:schemeClr val="tx2"/>
          </a:solidFill>
          <a:latin typeface="Arial"/>
          <a:ea typeface="ＭＳ Ｐゴシック" pitchFamily="-111" charset="-128"/>
          <a:cs typeface="Arial"/>
        </a:defRPr>
      </a:lvl1pPr>
      <a:lvl2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2pPr>
      <a:lvl3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3pPr>
      <a:lvl4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4pPr>
      <a:lvl5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5pPr>
      <a:lvl6pPr marL="322920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6pPr>
      <a:lvl7pPr marL="645841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7pPr>
      <a:lvl8pPr marL="968761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8pPr>
      <a:lvl9pPr marL="1291681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9pPr>
    </p:titleStyle>
    <p:bodyStyle>
      <a:lvl1pPr marL="1111160" indent="-1111160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1pPr>
      <a:lvl2pPr marL="2407327" indent="-926154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2pPr>
      <a:lvl3pPr marL="3704614" indent="-740026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3pPr>
      <a:lvl4pPr marL="5185787" indent="-740026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4pPr>
      <a:lvl5pPr marL="6668082" indent="-740026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5pPr>
      <a:lvl6pPr marL="8150348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6pPr>
      <a:lvl7pPr marL="9632230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7pPr>
      <a:lvl8pPr marL="11114111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8pPr>
      <a:lvl9pPr marL="12595993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1pPr>
      <a:lvl2pPr marL="1481882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2pPr>
      <a:lvl3pPr marL="2963763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3pPr>
      <a:lvl4pPr marL="4445644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4pPr>
      <a:lvl5pPr marL="5927526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5pPr>
      <a:lvl6pPr marL="7409408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6pPr>
      <a:lvl7pPr marL="8891289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7pPr>
      <a:lvl8pPr marL="10373171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8pPr>
      <a:lvl9pPr marL="11855052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/>
          <p:cNvSpPr txBox="1">
            <a:spLocks noChangeArrowheads="1"/>
          </p:cNvSpPr>
          <p:nvPr/>
        </p:nvSpPr>
        <p:spPr bwMode="auto">
          <a:xfrm>
            <a:off x="10528870" y="2658499"/>
            <a:ext cx="10092497" cy="106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 hangingPunct="1"/>
            <a:r>
              <a:rPr lang="en-GB" altLang="nl-NL" sz="3249" dirty="0">
                <a:solidFill>
                  <a:schemeClr val="bg1"/>
                </a:solidFill>
              </a:rPr>
              <a:t>Faculty of Engineering Technology, Campus Group 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3C3E51-BAFB-4305-BC1D-47F3C9F8ADD7}"/>
              </a:ext>
            </a:extLst>
          </p:cNvPr>
          <p:cNvSpPr txBox="1"/>
          <p:nvPr/>
        </p:nvSpPr>
        <p:spPr>
          <a:xfrm>
            <a:off x="6014242" y="4749387"/>
            <a:ext cx="9355138" cy="9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World Cup 2022 Predictor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C6AC-E675-4A2D-B099-5459246F9FF0}"/>
              </a:ext>
            </a:extLst>
          </p:cNvPr>
          <p:cNvSpPr txBox="1"/>
          <p:nvPr/>
        </p:nvSpPr>
        <p:spPr>
          <a:xfrm>
            <a:off x="7508599" y="5569224"/>
            <a:ext cx="6366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Jad</a:t>
            </a:r>
            <a:r>
              <a:rPr lang="en-US" sz="3600" dirty="0"/>
              <a:t> Haddad, Yonathan Irawan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5E5F6-B34F-46D2-A796-127C437C5B2A}"/>
              </a:ext>
            </a:extLst>
          </p:cNvPr>
          <p:cNvSpPr txBox="1"/>
          <p:nvPr/>
        </p:nvSpPr>
        <p:spPr>
          <a:xfrm>
            <a:off x="762000" y="7239000"/>
            <a:ext cx="91821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</a:t>
            </a:r>
          </a:p>
          <a:p>
            <a:endParaRPr lang="en-US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During the writing of this paper, the FIFA World Cup 2022 was ongoing.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Interesting to predict the outcome of the whole competition.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complete the task, we built a machine learning model that used historical matches to predict any international match.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 we use this model to predict each match of the competition.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whole competition is simulated 1000 times to show which team has the best chance of winning.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E259B-355D-4707-AC59-2018393E4E82}"/>
              </a:ext>
            </a:extLst>
          </p:cNvPr>
          <p:cNvSpPr txBox="1"/>
          <p:nvPr/>
        </p:nvSpPr>
        <p:spPr>
          <a:xfrm>
            <a:off x="762000" y="12020090"/>
            <a:ext cx="91821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Dataset  and  Features</a:t>
            </a:r>
          </a:p>
          <a:p>
            <a:r>
              <a:rPr lang="en-US" sz="2800" b="1" dirty="0"/>
              <a:t> </a:t>
            </a:r>
            <a:endParaRPr lang="en-US" sz="2800" dirty="0"/>
          </a:p>
          <a:p>
            <a:r>
              <a:rPr lang="en-US" sz="2400" dirty="0"/>
              <a:t>Using 24,000 past international matches dating back to 1993, we have the following dataset: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F00-970B-45AA-9636-1B4370F14117}"/>
              </a:ext>
            </a:extLst>
          </p:cNvPr>
          <p:cNvSpPr txBox="1"/>
          <p:nvPr/>
        </p:nvSpPr>
        <p:spPr>
          <a:xfrm>
            <a:off x="762000" y="17167078"/>
            <a:ext cx="91821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/>
          </a:p>
          <a:p>
            <a:r>
              <a:rPr lang="en-US" sz="2800" b="1" dirty="0"/>
              <a:t>Methods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first used a single logistic regression node to predict if the home team wins.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Then we used a python library called </a:t>
            </a:r>
            <a:r>
              <a:rPr lang="en-US" sz="2400" dirty="0" err="1"/>
              <a:t>sklearn</a:t>
            </a:r>
            <a:r>
              <a:rPr lang="en-US" sz="2400" dirty="0"/>
              <a:t> to construct a neural network to improve accuracy. This is a classifier model to predict whether the home team will win, draw, or lose</a:t>
            </a:r>
          </a:p>
          <a:p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88D48-15C5-40DD-A9F3-FC3F05C6C73E}"/>
              </a:ext>
            </a:extLst>
          </p:cNvPr>
          <p:cNvSpPr txBox="1"/>
          <p:nvPr/>
        </p:nvSpPr>
        <p:spPr>
          <a:xfrm>
            <a:off x="11439526" y="7239000"/>
            <a:ext cx="91821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Results/Discussion</a:t>
            </a:r>
          </a:p>
          <a:p>
            <a:r>
              <a:rPr lang="en-US" sz="2800" b="1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accuracy of logistic regression is 67%.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accuracy of the neural network is 60%, with an F1 score of 0.6.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network has a lower accuracy as it tries to classify win, draw, or lose.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767A836-EC5D-1493-5D48-3C46B0200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205035"/>
              </p:ext>
            </p:extLst>
          </p:nvPr>
        </p:nvGraphicFramePr>
        <p:xfrm>
          <a:off x="762001" y="13712861"/>
          <a:ext cx="91821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057">
                  <a:extLst>
                    <a:ext uri="{9D8B030D-6E8A-4147-A177-3AD203B41FA5}">
                      <a16:colId xmlns:a16="http://schemas.microsoft.com/office/drawing/2014/main" val="2808107890"/>
                    </a:ext>
                  </a:extLst>
                </a:gridCol>
                <a:gridCol w="6330043">
                  <a:extLst>
                    <a:ext uri="{9D8B030D-6E8A-4147-A177-3AD203B41FA5}">
                      <a16:colId xmlns:a16="http://schemas.microsoft.com/office/drawing/2014/main" val="15835343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Feature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2106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team_ranking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home team FIFA ranking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88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opponent_ranking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away team FIFA ranking</a:t>
                      </a:r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461206"/>
                  </a:ext>
                </a:extLst>
              </a:tr>
              <a:tr h="801963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match_coefficient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average of the two teams’ confederation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493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match_importance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importance of the 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15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neutral_location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True if the match is played in a neutral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626140"/>
                  </a:ext>
                </a:extLst>
              </a:tr>
            </a:tbl>
          </a:graphicData>
        </a:graphic>
      </p:graphicFrame>
      <p:pic>
        <p:nvPicPr>
          <p:cNvPr id="12" name="Picture 11" descr="A picture containing kitchenware&#10;&#10;Description automatically generated">
            <a:extLst>
              <a:ext uri="{FF2B5EF4-FFF2-40B4-BE49-F238E27FC236}">
                <a16:creationId xmlns:a16="http://schemas.microsoft.com/office/drawing/2014/main" id="{1AB28DCE-4809-B243-EC52-04CEE7C8E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25" y="20641798"/>
            <a:ext cx="4791076" cy="5389960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4082EF2D-C3CC-B0C7-CA6F-00AD0EB4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1" y="21617515"/>
            <a:ext cx="4391025" cy="34385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B0007E3-2213-0E6D-B927-DE9056FB1D33}"/>
              </a:ext>
            </a:extLst>
          </p:cNvPr>
          <p:cNvSpPr txBox="1"/>
          <p:nvPr/>
        </p:nvSpPr>
        <p:spPr>
          <a:xfrm>
            <a:off x="762000" y="26328678"/>
            <a:ext cx="9182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Both models are then used predict each match of the world cup.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 the group stage matches are simulated to find the top two teams in each group.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top two teams then are fed into the knockout stages according to the official bracket.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last 16, quarterfinals, semifinals, third place, and finals are all simulated.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simulation are iterated 1000 times and the winner, runners up, third place, and fourth place are counted.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5C7F936B-F856-7332-D184-5A2D9EE6AC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84573"/>
              </p:ext>
            </p:extLst>
          </p:nvPr>
        </p:nvGraphicFramePr>
        <p:xfrm>
          <a:off x="10528870" y="10159556"/>
          <a:ext cx="10626155" cy="55376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12CF7399-57C6-CF8C-29B6-E5D9956FE5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684"/>
          <a:stretch/>
        </p:blipFill>
        <p:spPr>
          <a:xfrm>
            <a:off x="10877168" y="15816989"/>
            <a:ext cx="9929557" cy="82349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7955704-8FC5-109B-D7CD-362AF5F3F968}"/>
              </a:ext>
            </a:extLst>
          </p:cNvPr>
          <p:cNvSpPr txBox="1"/>
          <p:nvPr/>
        </p:nvSpPr>
        <p:spPr>
          <a:xfrm>
            <a:off x="11439526" y="24051492"/>
            <a:ext cx="91821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visualization from one of the iterations.</a:t>
            </a:r>
          </a:p>
          <a:p>
            <a:r>
              <a:rPr lang="en-US" sz="2400" dirty="0"/>
              <a:t>Issues with the model: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Has a bias towards the home team.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Does not predict draws very often.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model does not consider that surprises happens all the time in football.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b="1" dirty="0"/>
              <a:t>Conclusion/Future  Work</a:t>
            </a:r>
          </a:p>
          <a:p>
            <a:r>
              <a:rPr lang="en-US" sz="2800" b="1" dirty="0"/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More features can be added to improve accuracy. For example, age is a huge factor.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Output predicted goals instead of match winner.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Custom 15 karelblauw">
      <a:dk1>
        <a:srgbClr val="2F4D5D"/>
      </a:dk1>
      <a:lt1>
        <a:srgbClr val="FFFFFF"/>
      </a:lt1>
      <a:dk2>
        <a:srgbClr val="1D8DB0"/>
      </a:dk2>
      <a:lt2>
        <a:srgbClr val="E5EDF4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431</Words>
  <Application>Microsoft Office PowerPoint</Application>
  <PresentationFormat>Custom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Office-thema</vt:lpstr>
      <vt:lpstr>PowerPoint Presentation</vt:lpstr>
    </vt:vector>
  </TitlesOfParts>
  <Company>Altera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Admin</dc:creator>
  <cp:lastModifiedBy>Yonathan Julian Putra Irawan</cp:lastModifiedBy>
  <cp:revision>64</cp:revision>
  <dcterms:created xsi:type="dcterms:W3CDTF">2009-09-14T08:42:38Z</dcterms:created>
  <dcterms:modified xsi:type="dcterms:W3CDTF">2022-12-19T17:53:57Z</dcterms:modified>
</cp:coreProperties>
</file>